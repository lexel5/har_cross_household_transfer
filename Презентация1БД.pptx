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3" r:id="rId11"/>
    <p:sldId id="265" r:id="rId12"/>
    <p:sldId id="266" r:id="rId13"/>
    <p:sldId id="27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E8FE"/>
    <a:srgbClr val="ABE6FB"/>
    <a:srgbClr val="77C9E1"/>
    <a:srgbClr val="007999"/>
    <a:srgbClr val="2C9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07"/>
    <p:restoredTop sz="93143"/>
  </p:normalViewPr>
  <p:slideViewPr>
    <p:cSldViewPr snapToGrid="0">
      <p:cViewPr varScale="1">
        <p:scale>
          <a:sx n="72" d="100"/>
          <a:sy n="72" d="100"/>
        </p:scale>
        <p:origin x="23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55EE3-FDCD-9548-8308-F73CC5C80F2B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7E79D-CCDE-864A-BF5C-7E063E07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5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7E79D-CCDE-864A-BF5C-7E063E07802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158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7E79D-CCDE-864A-BF5C-7E063E07802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250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E42A0-D093-8A68-D6D9-472B58819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5FC8B1-25CA-FE27-AC8F-F078AB3B7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594786-3263-4888-5A93-86A61820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970D2E-B976-C0C9-A0C8-16FC54E1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5DECCB-F9B4-AF97-6D26-5200C2FD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54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7223E-6016-4EF7-4460-B779D681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357626-F5CB-5FE5-1FD4-C44913F89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9B9258-6743-E58E-4D2D-10238DEE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4C1CF-B1E8-D23D-FD52-10C507F1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901C3-5A56-84BA-2629-06DC8965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013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00786-EDB0-4255-9233-CA840CFA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07A7DD-B532-84B5-9CCD-69865340F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61606E-97DC-ED1F-040F-561A26D7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30FF1A-9696-89BC-D316-5B477A58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BEF5E4-A075-9FC5-0BD8-5DC09FF7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50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8FE81-D0CA-CC90-E7AD-1FCAB654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3BA6F8-00C0-D7E4-D413-82108E44A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456320-2E4D-6223-8C0B-AEBFF5D6D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0A2BB5-0569-CDBF-373D-11EECE17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F7019F-7839-9E97-EC41-4FD464D9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08CACD-262A-FDBD-B457-A6BBECB5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65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F6870-277C-18C1-E5E5-C88ACFA7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25BBBF-CA35-BCA0-587C-856E2FE43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162948-6554-8057-46CD-A29599676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D78FEA-9F49-A80C-37C9-E533FC3B9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D8428BC-B9D6-1A46-D438-0DFC9AF18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2C5BA5-C717-68F9-BB25-BBFFA9BA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2782EF1-A228-EE69-3AA3-316051C7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18631F-7A52-1840-4D2F-586E22F5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96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0626A-00CA-4FBE-7451-435CFE15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A22727-6F46-F6EB-D173-98D906B0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200EAA-3C1B-E7ED-E031-C7EDB6A6C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70C3B5-978D-2F69-B5FB-6E247321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309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5085CF-4F27-F81E-CBBE-B98AF748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7976C84-3496-25FC-0BFF-DC8AA7E7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8A694D-55CD-9556-1719-8FB04D8E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37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EBFFE8-1812-0949-CD16-A4D826839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A3747-DB56-22B5-3D4D-DD25E55CA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814F64-521C-D1A9-1145-A4E5E162D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A1E11C-983C-9BF8-94A1-480717CA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08D5A5-B6D9-533E-14F2-62EC35EA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64C89B-1D46-E311-0BD8-827D0D98E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15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16F9D-CED3-9627-C571-9E92611D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3E0664-CF88-BBA5-4FA4-44D8584AA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A2D43D-447C-280A-A865-8CDB41BD9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B6202F-0A2C-930A-6CF4-E4B72FDA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F0E5F8-0CCB-FCBC-C21D-04DB1B607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8B2777-1CC1-3651-BA80-B080F300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77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EC954-2568-C99C-5503-8263759E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7E25A4-C2B5-2B74-49E3-56314E9DE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E8785-2CD8-F1F0-F814-53A217544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E793AA-10D8-D09E-154C-93301744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FD7883-76B5-E1BE-64FC-07CDDE86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75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9BB3F4-26F6-5FD3-5D52-3D55C4F52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A3F476-F6AA-1677-3268-172C6F3D7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8965BC-ED20-D498-78B3-5C02C9B3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CA2707-C97B-AEF4-D581-0A67C636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8AC7E8-6418-882A-0E24-37A05B76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08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9BF00-7893-167F-A753-BAEBF7F0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7AB657-9AF8-DCB2-F681-9F02305F7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A8EA84-0634-D526-0A60-6DF82592F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9C749-6997-754F-9549-7FDCB57A1B98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E3BAB4-A4CE-1AC9-74E7-06EA66A51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533632-CBD4-6A34-4288-83555CD1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19F91-D2D0-4C42-8D05-B6646175E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18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A326C0-1EF1-CB5C-9FD7-857568660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482" y="986618"/>
            <a:ext cx="11081035" cy="4884763"/>
          </a:xfrm>
        </p:spPr>
        <p:txBody>
          <a:bodyPr>
            <a:noAutofit/>
          </a:bodyPr>
          <a:lstStyle/>
          <a:p>
            <a:r>
              <a:rPr lang="en" sz="86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HUMAN ACTIVITY RECOGNITION FROM CONTINUOUS AMBIENT SENSOR DATA</a:t>
            </a:r>
            <a:endParaRPr lang="ru-RU" sz="86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6AF3229-D231-624B-84F8-8ED11B66C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1265" y="6036906"/>
            <a:ext cx="5100735" cy="821094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</a:pPr>
            <a:r>
              <a:rPr lang="ru-RU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ГРУППА 3371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r">
              <a:lnSpc>
                <a:spcPct val="100000"/>
              </a:lnSpc>
            </a:pPr>
            <a:r>
              <a:rPr lang="ru-RU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СМИРНОВ АЛЕКСЕЙ, ЧИСТЯКОВА ВЕРОНИКА</a:t>
            </a:r>
          </a:p>
        </p:txBody>
      </p:sp>
    </p:spTree>
    <p:extLst>
      <p:ext uri="{BB962C8B-B14F-4D97-AF65-F5344CB8AC3E}">
        <p14:creationId xmlns:p14="http://schemas.microsoft.com/office/powerpoint/2010/main" val="2945368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3CA53-6126-077F-8BBB-C3E74131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277"/>
            <a:ext cx="10515600" cy="4533446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 ОБЩАЯ ИНФОРМАЦИЯ ПО ДАННЫМ: ИСТОЧНИК, КЕМ ПРЕДООСТАВЛЕНЫ, КОГДА И ДЛЯ КАКИХ ЗАДАЧ МОГУТ ИСПОЛЬЗОВАТЬСЯ</a:t>
            </a:r>
          </a:p>
        </p:txBody>
      </p:sp>
    </p:spTree>
    <p:extLst>
      <p:ext uri="{BB962C8B-B14F-4D97-AF65-F5344CB8AC3E}">
        <p14:creationId xmlns:p14="http://schemas.microsoft.com/office/powerpoint/2010/main" val="258852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A1965E-CAA1-2E38-0347-5C1E2640BF21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31AE6F7-1FD1-727B-2691-7CF59F7A4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278" y="177795"/>
            <a:ext cx="10791444" cy="99228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1.ОБЩАЯ ИНФОРМАЦИЯ ПО ДАННЫМ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42F6DF3-77AB-058D-62A0-8223760D0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757" y="1841242"/>
            <a:ext cx="551223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6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ОПИСАНИЕ: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Данные собраны в 30 квартирах добровольцев с помощью различных датчиков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  <a:endParaRPr kumimoji="0" lang="ru-RU" altLang="ru-RU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Для каждого окна из 30 последовательных событий вычислены 37 признаков, описывающих активность человека. Имеется размеченная целевая  переменная – действие человека.</a:t>
            </a:r>
          </a:p>
        </p:txBody>
      </p:sp>
      <p:pic>
        <p:nvPicPr>
          <p:cNvPr id="3" name="Рисунок 2" descr="Изображение выглядит как диаграмма, План, линия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68F7CC-F002-586B-BA41-50E1F8BA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628" y="2246109"/>
            <a:ext cx="5617615" cy="371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7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E60CE47-808A-5CC0-9F7D-138D75596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28" y="2038149"/>
            <a:ext cx="10940143" cy="4120055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u="sng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ИСТОЧНИК:</a:t>
            </a:r>
            <a:r>
              <a:rPr lang="ru-RU" altLang="ru-RU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UCI Machine Learning </a:t>
            </a:r>
            <a:r>
              <a:rPr lang="ru-RU" altLang="ru-RU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Repository</a:t>
            </a:r>
            <a:r>
              <a:rPr lang="ru-RU" altLang="ru-RU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en-US" altLang="ru-RU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u="sng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КЕМ ПРЕДОСТАВЛЕНЫ:</a:t>
            </a:r>
            <a:r>
              <a:rPr lang="ru-RU" altLang="ru-RU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Diane J. Cook, Aaron S. Crandall, Brian L. Thomas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ГОД ПУБЛИКАЦИИ: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2016-2017 гг.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ДЛЯ КАКИХ ЗАДАЧ ПРЕДОСТАВЛЕН: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Consolas" panose="020B0609020204030204" pitchFamily="49" charset="0"/>
                <a:cs typeface="Consolas" panose="020B0609020204030204" pitchFamily="49" charset="0"/>
              </a:rPr>
              <a:t>Классификация активностей повседневной жизни.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Consolas" panose="020B0609020204030204" pitchFamily="49" charset="0"/>
                <a:cs typeface="Consolas" panose="020B0609020204030204" pitchFamily="49" charset="0"/>
              </a:rPr>
              <a:t>Обучение моделей для домашней автоматизации</a:t>
            </a:r>
            <a:r>
              <a:rPr lang="en-US" altLang="ru-RU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Consolas" panose="020B0609020204030204" pitchFamily="49" charset="0"/>
                <a:cs typeface="Consolas" panose="020B0609020204030204" pitchFamily="49" charset="0"/>
              </a:rPr>
              <a:t>Прогнозирование следующей активности</a:t>
            </a:r>
            <a:r>
              <a:rPr lang="en-US" altLang="ru-RU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24C132-8595-898F-7C21-9811A13620A4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32F94-DBF4-3D7D-468D-E7F592C3B566}"/>
              </a:ext>
            </a:extLst>
          </p:cNvPr>
          <p:cNvSpPr txBox="1"/>
          <p:nvPr/>
        </p:nvSpPr>
        <p:spPr>
          <a:xfrm>
            <a:off x="625928" y="147545"/>
            <a:ext cx="10940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1.ОБЩАЯ ИНФОРМАЦИЯ ПО ДАННЫМ</a:t>
            </a:r>
            <a:endParaRPr lang="en-US" sz="5400" dirty="0">
              <a:solidFill>
                <a:schemeClr val="tx2">
                  <a:lumMod val="10000"/>
                  <a:lumOff val="9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527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2E164-2116-BC6C-4553-69153FFA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7800"/>
            <a:ext cx="10515600" cy="5153932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ОПИСАНИЕ ЦЕЛЕВОЙ ЗАДАЧИ АНАЛИЗА ДАННЫХ ИСХОДЯ ИЗ ДАННЫХ</a:t>
            </a:r>
          </a:p>
        </p:txBody>
      </p:sp>
    </p:spTree>
    <p:extLst>
      <p:ext uri="{BB962C8B-B14F-4D97-AF65-F5344CB8AC3E}">
        <p14:creationId xmlns:p14="http://schemas.microsoft.com/office/powerpoint/2010/main" val="31449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C61026C-6EF4-8C3E-595A-AB511B4A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065"/>
            <a:ext cx="10515600" cy="44809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ЗАДАЧА: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Многоклассовая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классификация временных окон – по 37 признакам, описывающим 30 последовательных событий сенсоров, предсказать текущую активность человека.</a:t>
            </a:r>
          </a:p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ЦЕЛЬ РАБОТЫ:</a:t>
            </a:r>
          </a:p>
          <a:p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Построить универсальную модель на данных из большинства квартир и адаптировать ее к новой квартире с минимальной разметкой.</a:t>
            </a:r>
          </a:p>
          <a:p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Оценить эффективность 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предобучения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по сравнению с обучением только на целевой квартире и определить необходимый объем размеченных данных для достижения приемлемого качества.</a:t>
            </a:r>
          </a:p>
          <a:p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Изучить масштабируемость алгоритма.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484445-00C4-93CF-9CDE-76BE8E534C6B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EDD86-808D-94E1-333D-9F04168A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357" y="22311"/>
            <a:ext cx="10069286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 ОПИСАНИЕ ЦЕЛЕВОЙ ЗАДАЧИ</a:t>
            </a:r>
          </a:p>
        </p:txBody>
      </p:sp>
    </p:spTree>
    <p:extLst>
      <p:ext uri="{BB962C8B-B14F-4D97-AF65-F5344CB8AC3E}">
        <p14:creationId xmlns:p14="http://schemas.microsoft.com/office/powerpoint/2010/main" val="211495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C7E26-1DDC-45A5-1D88-B023C868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5562"/>
            <a:ext cx="10515600" cy="4206875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 МЕТАИНФОРМАЦИЯ: ФОРМАТ, КОЛИЧЕСТВО АТРИБУТОВ И ВЕКТОРОВ, ТИПЫ АТРИБУТОВ, КЛАССЫ И Т.П.</a:t>
            </a:r>
          </a:p>
        </p:txBody>
      </p:sp>
    </p:spTree>
    <p:extLst>
      <p:ext uri="{BB962C8B-B14F-4D97-AF65-F5344CB8AC3E}">
        <p14:creationId xmlns:p14="http://schemas.microsoft.com/office/powerpoint/2010/main" val="316924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01FDE7C-E9D1-BD33-81EA-65540050D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628" y="2015413"/>
            <a:ext cx="9928743" cy="420610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4000" u="sng" dirty="0">
                <a:latin typeface="Consolas" panose="020B0609020204030204" pitchFamily="49" charset="0"/>
                <a:cs typeface="Consolas" panose="020B0609020204030204" pitchFamily="49" charset="0"/>
              </a:rPr>
              <a:t>ФОРМАТ ДАННЫХ: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30 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CSV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-файлов, каждая запись – одно окно из 30 событий датчиков.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4000" u="sng" dirty="0">
                <a:latin typeface="Consolas" panose="020B0609020204030204" pitchFamily="49" charset="0"/>
                <a:cs typeface="Consolas" panose="020B0609020204030204" pitchFamily="49" charset="0"/>
              </a:rPr>
              <a:t>КОЛИЧЕСТВО ЗАПИСЕЙ: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13 956 534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ru-RU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4000" u="sng" dirty="0">
                <a:latin typeface="Consolas" panose="020B0609020204030204" pitchFamily="49" charset="0"/>
                <a:cs typeface="Consolas" panose="020B0609020204030204" pitchFamily="49" charset="0"/>
              </a:rPr>
              <a:t>КОЛИЧЕСТВО АТРИБУТОВ: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37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ru-RU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4000" u="sng" dirty="0">
                <a:latin typeface="Consolas" panose="020B0609020204030204" pitchFamily="49" charset="0"/>
                <a:cs typeface="Consolas" panose="020B0609020204030204" pitchFamily="49" charset="0"/>
              </a:rPr>
              <a:t>ТИПЫ ДАННЫХ: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вещественные, целочисленные идентификаторы датчиков, а также строковая метка класса - целевая переменная 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“activity”.</a:t>
            </a:r>
            <a:endParaRPr lang="ru-RU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8144AE-B69D-0CD2-97E4-EBF8557A9980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40D1E-8DA3-73B3-B48F-E36A2F25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857" y="11155"/>
            <a:ext cx="6640286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 МЕТАИНФОРМАЦИЯ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109467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3E4BD-746C-C8F3-7A3E-704E2E52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68FE14F-EFEF-65C0-CA13-37E812C3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2695"/>
            <a:ext cx="10515600" cy="4076847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3200" u="sng" dirty="0">
                <a:latin typeface="Consolas" panose="020B0609020204030204" pitchFamily="49" charset="0"/>
                <a:cs typeface="Consolas" panose="020B0609020204030204" pitchFamily="49" charset="0"/>
              </a:rPr>
              <a:t>СОСТАВ АТРИБУТОВ:</a:t>
            </a:r>
          </a:p>
          <a:p>
            <a:pPr>
              <a:lnSpc>
                <a:spcPct val="120000"/>
              </a:lnSpc>
            </a:pP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ВРЕМЕННЫЕ ХАРАКТЕРИСТИКИ: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lastSensorEventHours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lastSensorEventSeconds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lastSensorDayOfWeek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windowDuration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timeSinceLastSensorEvent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endParaRPr lang="en-US" sz="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ИНФОРМАЦИЯ ИЗ ПРЕДЫДУЩИХ ОКОН: </a:t>
            </a:r>
            <a:r>
              <a:rPr lang="en" sz="3200" dirty="0">
                <a:latin typeface="Consolas" panose="020B0609020204030204" pitchFamily="49" charset="0"/>
                <a:cs typeface="Consolas" panose="020B0609020204030204" pitchFamily="49" charset="0"/>
              </a:rPr>
              <a:t>prevDominantSensor1, prevDominantSensor2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 (идентификаторы доминирующих датчиков).</a:t>
            </a:r>
          </a:p>
          <a:p>
            <a:endParaRPr lang="ru-RU" sz="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ПОСЛЕДНИЙ ДАТЧИК В ОКНЕ: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lastSensorID</a:t>
            </a:r>
            <a:r>
              <a:rPr lang="en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lastSensorLocation</a:t>
            </a:r>
            <a:r>
              <a:rPr lang="en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lastMotionLocation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endParaRPr lang="ru-RU" sz="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МЕТРИКИ ОКНА: </a:t>
            </a:r>
            <a:r>
              <a:rPr lang="en" sz="3200" dirty="0">
                <a:latin typeface="Consolas" panose="020B0609020204030204" pitchFamily="49" charset="0"/>
                <a:cs typeface="Consolas" panose="020B0609020204030204" pitchFamily="49" charset="0"/>
              </a:rPr>
              <a:t>complexity,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activityChange</a:t>
            </a:r>
            <a:r>
              <a:rPr lang="en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areaTransitions</a:t>
            </a:r>
            <a:r>
              <a:rPr lang="en" sz="3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numDistinctSensors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 (всегда 0).</a:t>
            </a:r>
          </a:p>
          <a:p>
            <a:endParaRPr lang="ru-RU" sz="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ВЗВЕШЕННЫЕ СЧЕТЧИКИ СОБЫТИЙ ПО КОМНАТАМ: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sensorCount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-&lt;Area&gt; (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11 атрибутов).</a:t>
            </a:r>
          </a:p>
          <a:p>
            <a:endParaRPr lang="ru-RU" sz="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ВРЕМЯ С ПОСЛЕДНЕГО СОБЫТИЯ ПО КОМНАТАМ: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sensorEITime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-&lt;Area&gt; (</a:t>
            </a:r>
            <a:r>
              <a:rPr lang="ru-RU" sz="3200" dirty="0">
                <a:latin typeface="Consolas" panose="020B0609020204030204" pitchFamily="49" charset="0"/>
                <a:cs typeface="Consolas" panose="020B0609020204030204" pitchFamily="49" charset="0"/>
              </a:rPr>
              <a:t>11 атрибутов).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112444-1EC0-AED7-B9FD-DC4627DE5C6C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26C52-C306-E09A-6281-E3EFDF60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857" y="11155"/>
            <a:ext cx="6640286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 МЕТАИНФОРМАЦИЯ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139984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28AE7-FD35-045F-4C18-ABCCEF9E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3291"/>
            <a:ext cx="10515600" cy="4631418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 ОГРАНИЧЕНИЯ ДАННЫХ: ПРОПУЩЕННЫЕ ЗНАЧЕНИЯ, АНОМАЛИИ И Т.П.</a:t>
            </a:r>
          </a:p>
        </p:txBody>
      </p:sp>
    </p:spTree>
    <p:extLst>
      <p:ext uri="{BB962C8B-B14F-4D97-AF65-F5344CB8AC3E}">
        <p14:creationId xmlns:p14="http://schemas.microsoft.com/office/powerpoint/2010/main" val="106448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86A3B-C692-D141-F0AE-50580959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A09AAD3-E239-E8B3-4EC2-E8502F304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7467"/>
            <a:ext cx="10515600" cy="51605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ПРОПУСКИ: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отсутствуют.</a:t>
            </a:r>
          </a:p>
          <a:p>
            <a:pPr marL="0" indent="0">
              <a:buNone/>
            </a:pPr>
            <a:endParaRPr lang="ru-RU" sz="3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ЗАШУМЛЕННОСТЬ МЕТОК: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возможна из-за ручной разметки и наличия обобщающего класса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Other_Activity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ru-RU" sz="3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НЕСБАЛАНСИРОВАННОСТЬ КЛАССОВ: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распределение классов сильно перекошено.</a:t>
            </a:r>
          </a:p>
          <a:p>
            <a:pPr marL="0" indent="0">
              <a:buNone/>
            </a:pPr>
            <a:endParaRPr lang="ru-RU" sz="3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ВРЕМЕННАЯ ЗАВИСИМОСТЬ: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окна перекрываются на 29 событий, что создает автокорреляцию между соседними строками.</a:t>
            </a:r>
          </a:p>
          <a:p>
            <a:pPr marL="0" indent="0">
              <a:buNone/>
            </a:pPr>
            <a:endParaRPr lang="ru-RU" sz="2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РАЗНЫЕ КВАРТИРЫ: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конфигурация датчиков и распределение активностей различаются.</a:t>
            </a:r>
          </a:p>
          <a:p>
            <a:pPr marL="0" indent="0">
              <a:buNone/>
            </a:pPr>
            <a:endParaRPr lang="ru-RU" sz="2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КОНСТАНТНЫЕ ПРИЗНАКИ: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numDistinctSensors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всегда 0; в отдельных квартирах некоторые признаки по комнатам могут быть константными (если комната отсутствует).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44C362-7882-DBD2-6867-E087C13F8FEC}"/>
              </a:ext>
            </a:extLst>
          </p:cNvPr>
          <p:cNvSpPr/>
          <p:nvPr/>
        </p:nvSpPr>
        <p:spPr>
          <a:xfrm>
            <a:off x="0" y="-11156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5A7C6-1DF4-5643-3779-7DDAA311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28" y="-11156"/>
            <a:ext cx="8196944" cy="1325563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 </a:t>
            </a:r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ОГРАНИЧЕНИЯ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3434321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52E98-6CE6-8E88-2C1F-E0F9BA92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47A1A-0F8D-3049-FE0E-6175CE1D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3291"/>
            <a:ext cx="10515600" cy="4631418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5. ПРЕДЛАГАЕМЫЙ </a:t>
            </a:r>
            <a:r>
              <a:rPr lang="en-US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</a:t>
            </a:r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АЛГОРИТМ ДЛЯ РЕШЕНИЯ ЦЕЛЕВОЙ ЗАДАЧИ</a:t>
            </a:r>
          </a:p>
        </p:txBody>
      </p:sp>
    </p:spTree>
    <p:extLst>
      <p:ext uri="{BB962C8B-B14F-4D97-AF65-F5344CB8AC3E}">
        <p14:creationId xmlns:p14="http://schemas.microsoft.com/office/powerpoint/2010/main" val="772194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9BD2E-B198-8BD8-2527-4294C7D2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E3E7A0A-0EF9-AB01-BCDE-01C09982D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659"/>
            <a:ext cx="10515600" cy="685672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Для решения целевой задачи выбран алгоритм </a:t>
            </a:r>
            <a:r>
              <a:rPr lang="en-US" sz="4200" dirty="0" err="1">
                <a:latin typeface="Consolas" panose="020B0609020204030204" pitchFamily="49" charset="0"/>
                <a:cs typeface="Consolas" panose="020B0609020204030204" pitchFamily="49" charset="0"/>
              </a:rPr>
              <a:t>XGBoost</a:t>
            </a:r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 – одна из наиболее популярных и эффективных реализаций градиентного </a:t>
            </a:r>
            <a:r>
              <a:rPr lang="ru-RU" sz="4200" dirty="0" err="1">
                <a:latin typeface="Consolas" panose="020B0609020204030204" pitchFamily="49" charset="0"/>
                <a:cs typeface="Consolas" panose="020B0609020204030204" pitchFamily="49" charset="0"/>
              </a:rPr>
              <a:t>бустинга</a:t>
            </a:r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ru-RU" sz="42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ru-RU" sz="16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BA3056-0FB4-0263-202D-7F4CB28E979E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0A8D7-39D7-ECA6-2F25-420A21F7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9" y="11155"/>
            <a:ext cx="5486401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5. </a:t>
            </a:r>
            <a:r>
              <a:rPr lang="en-US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 </a:t>
            </a:r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АЛГОРИТМ</a:t>
            </a:r>
          </a:p>
        </p:txBody>
      </p:sp>
      <p:pic>
        <p:nvPicPr>
          <p:cNvPr id="6" name="Рисунок 5" descr="Изображение выглядит как зарисовка, рисунок, Штриховая график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B2EF2C-80AD-1636-3879-8483E9732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5330"/>
            <a:ext cx="10515600" cy="440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7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9BF4D-4414-0EF9-A309-8D88F151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5F2E9C-0B0B-C2C5-CE85-015F172E3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5301"/>
            <a:ext cx="10515600" cy="471332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ru-RU" sz="16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4200" u="sng" dirty="0">
                <a:latin typeface="Consolas" panose="020B0609020204030204" pitchFamily="49" charset="0"/>
                <a:cs typeface="Consolas" panose="020B0609020204030204" pitchFamily="49" charset="0"/>
              </a:rPr>
              <a:t>ОБОСНОВАНИЕ ВЫБОРА:</a:t>
            </a:r>
          </a:p>
          <a:p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Высокая точность и скорость обучения на табличных данных.</a:t>
            </a:r>
          </a:p>
          <a:p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Возможность задания весов для классов позволяет эффективно бороться с дисбалансом.</a:t>
            </a:r>
          </a:p>
          <a:p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Поддержка параллельных вычислений для экспериментов по масштабированию.</a:t>
            </a:r>
          </a:p>
          <a:p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Возможность дообучения для исследования адаптации модели к новой квартире.</a:t>
            </a:r>
          </a:p>
          <a:p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Наличие официальной интеграции с </a:t>
            </a:r>
            <a:r>
              <a:rPr lang="en-US" sz="4200" dirty="0">
                <a:latin typeface="Consolas" panose="020B0609020204030204" pitchFamily="49" charset="0"/>
                <a:cs typeface="Consolas" panose="020B0609020204030204" pitchFamily="49" charset="0"/>
              </a:rPr>
              <a:t>Apache Spark,</a:t>
            </a:r>
            <a:r>
              <a:rPr lang="ru-RU" sz="4200" dirty="0">
                <a:latin typeface="Consolas" panose="020B0609020204030204" pitchFamily="49" charset="0"/>
                <a:cs typeface="Consolas" panose="020B0609020204030204" pitchFamily="49" charset="0"/>
              </a:rPr>
              <a:t> что дает возможность масштабировать 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вычисления на кластер.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450AC6-850B-CDD9-3340-2490161AB4A5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B5E2D-0199-639B-96C4-190D03D47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9" y="11155"/>
            <a:ext cx="5486401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5. </a:t>
            </a:r>
            <a:r>
              <a:rPr lang="en-US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 </a:t>
            </a:r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1599225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B6F33-51E2-0CB1-D47C-2AC46D94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8CBCFD-4A39-0519-FB6E-D4DE3868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3291"/>
            <a:ext cx="10515600" cy="4631418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6. НЕОБХОДИМЫЕ НАСТРОЙКИ ДАННЫХ ДЛЯ КАЖДОГО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3233766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0F906-CB94-46FD-7487-8EB18C84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1FE500-39B4-E580-49B2-0C3FDD4AB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239"/>
            <a:ext cx="10515600" cy="5021220"/>
          </a:xfrm>
        </p:spPr>
        <p:txBody>
          <a:bodyPr>
            <a:normAutofit fontScale="62500" lnSpcReduction="20000"/>
          </a:bodyPr>
          <a:lstStyle/>
          <a:p>
            <a:pPr marL="742950" indent="-742950">
              <a:buAutoNum type="arabicPeriod"/>
            </a:pP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Загрузка и объединение 30 файлов с данными по квартирам в один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добавив колонку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household_id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marL="742950" indent="-742950">
              <a:buAutoNum type="arabicPeriod"/>
            </a:pP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Удаление лишнего признака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numDistinctSensors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(всегда 0).</a:t>
            </a:r>
          </a:p>
          <a:p>
            <a:pPr marL="742950" indent="-742950">
              <a:buAutoNum type="arabicPeriod"/>
            </a:pP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Кодирование целевой переменной единым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LabelEncoder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для всей выборки, чтобы классы были согласованы между квартирами.</a:t>
            </a:r>
          </a:p>
          <a:p>
            <a:pPr marL="742950" indent="-742950">
              <a:buAutoNum type="arabicPeriod"/>
            </a:pP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Целевая квартира делится по времени, первые 80% -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target_train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(обучение на целевой квартире), последние 20% -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target_test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(тест для всех экспериментов).</a:t>
            </a:r>
          </a:p>
          <a:p>
            <a:pPr marL="742950" indent="-742950">
              <a:buAutoNum type="arabicPeriod"/>
            </a:pP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Записи из всех квартир, кроме целевой, объединяются в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universal_train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и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universal_test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marL="742950" indent="-742950">
              <a:buAutoNum type="arabicPeriod"/>
            </a:pPr>
            <a:r>
              <a:rPr lang="ru-RU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Подвыборки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 для дообучения из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target_train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4000" dirty="0">
                <a:latin typeface="Consolas" panose="020B0609020204030204" pitchFamily="49" charset="0"/>
                <a:cs typeface="Consolas" panose="020B0609020204030204" pitchFamily="49" charset="0"/>
              </a:rPr>
              <a:t>целевой квартиры берутся по времени (1%, 5%, 10%, 25%, 50%, и 100% записей).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C76134-304A-0A93-43C6-31711EC554A6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65A214-5BE4-A328-7101-DFD3173CB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5"/>
            <a:ext cx="10823945" cy="1325563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6. НЕОБХОДИМЫЕ НАСТРОЙКИ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180946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F0589-0349-4FC8-351B-93AA0E61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21621-A66C-C0F4-2069-393DAFA0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3291"/>
            <a:ext cx="10515600" cy="4631418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 ОЖИДАЕМЫЕ МОДЕЛИ ЗНАНИЙ, ПОСТРОЕННЫЕ АЛГОРИТМАМИ</a:t>
            </a:r>
          </a:p>
        </p:txBody>
      </p:sp>
    </p:spTree>
    <p:extLst>
      <p:ext uri="{BB962C8B-B14F-4D97-AF65-F5344CB8AC3E}">
        <p14:creationId xmlns:p14="http://schemas.microsoft.com/office/powerpoint/2010/main" val="1277517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C55F2-79BC-EE9E-A33D-6A525B23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8EAC7FA-8168-963D-39CF-7E5B7F20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5196"/>
            <a:ext cx="10823944" cy="4362061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ru-RU" sz="7600" dirty="0">
                <a:latin typeface="Consolas" panose="020B0609020204030204" pitchFamily="49" charset="0"/>
                <a:cs typeface="Consolas" panose="020B0609020204030204" pitchFamily="49" charset="0"/>
              </a:rPr>
              <a:t>ЧАСТНАЯ МОДЕЛЬ, обученная только на обучающей части целевой квартиры. Покажет качество, достижимое при наличии достаточного объема размеченных данных в самой квартире.</a:t>
            </a:r>
          </a:p>
          <a:p>
            <a:pPr algn="just"/>
            <a:endParaRPr lang="ru-RU" sz="7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ru-RU" sz="7600" dirty="0">
                <a:latin typeface="Consolas" panose="020B0609020204030204" pitchFamily="49" charset="0"/>
                <a:cs typeface="Consolas" panose="020B0609020204030204" pitchFamily="49" charset="0"/>
              </a:rPr>
              <a:t>УНИВЕРСАЛЬНАЯ МОДЕЛЬ, обученная на всех остальных 29 квартирах. Позволит оценить, насколько хорошо данные из других квартир обобщаются на целевую квартиру без адаптации.</a:t>
            </a:r>
          </a:p>
          <a:p>
            <a:pPr algn="just"/>
            <a:endParaRPr lang="ru-RU" sz="7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ru-RU" sz="7600" dirty="0">
                <a:latin typeface="Consolas" panose="020B0609020204030204" pitchFamily="49" charset="0"/>
                <a:cs typeface="Consolas" panose="020B0609020204030204" pitchFamily="49" charset="0"/>
              </a:rPr>
              <a:t>СЕРИЯ ДООБУЧЕННЫХ МОДЕЛЕЙ – универсальная модель, последовательно дообученная на 1%, 2%, 5%, 25%, 50% и 100% от целевой квартиры. Для каждого объема будет получена своя модель, что позволит проследить динамику улучшения качества по мере добавления данных из целевой квартиры.</a:t>
            </a:r>
          </a:p>
          <a:p>
            <a:endParaRPr lang="ru-RU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6829EF-988A-F358-B0BA-BBC3C8DBEA52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39DD2-FCDA-B952-9DCE-C1D555D20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5"/>
            <a:ext cx="10823945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 ОЖИДАЕМЫЕ МОДЕЛИ ЗНАНИЙ</a:t>
            </a:r>
          </a:p>
        </p:txBody>
      </p:sp>
    </p:spTree>
    <p:extLst>
      <p:ext uri="{BB962C8B-B14F-4D97-AF65-F5344CB8AC3E}">
        <p14:creationId xmlns:p14="http://schemas.microsoft.com/office/powerpoint/2010/main" val="1230305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AD1FA-1C27-A9B1-975C-14100F80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F8543-ADF5-FB2A-5996-80217916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3291"/>
            <a:ext cx="10515600" cy="4631418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8. ПРЕДЛАГАЕМЫЕ МЕТОДЫ И КРИТЕРИИ ОЦЕНКИ ПОСТРОЕННЫХ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028444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5649D-FB03-3184-787A-67015A7D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1841BD5-0735-A4A6-2228-FD99F0A42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239"/>
            <a:ext cx="10515600" cy="50212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u="sng" dirty="0">
                <a:latin typeface="Consolas" panose="020B0609020204030204" pitchFamily="49" charset="0"/>
                <a:cs typeface="Consolas" panose="020B0609020204030204" pitchFamily="49" charset="0"/>
              </a:rPr>
              <a:t>Методы и критерии оценки:</a:t>
            </a:r>
          </a:p>
          <a:p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Единый тестовый набор - для всех экспериментов, связанных с целевой квартирой, используется 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target_test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последние 20% записей). Это обеспечивает прямое сравнение.</a:t>
            </a:r>
          </a:p>
          <a:p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Для универсальной модели дополнительно оценивается качество на 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universal_test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тестовые части 29 квартир), чтобы оценить её работу на «знакомых» данных.</a:t>
            </a:r>
          </a:p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F1-score (weighted) –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метрика оценки точности модели, учитывающая дисбаланс классов.</a:t>
            </a:r>
          </a:p>
          <a:p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Матрицы ошибок – для качественного анализа.</a:t>
            </a:r>
          </a:p>
          <a:p>
            <a:pPr marL="0" indent="0">
              <a:buNone/>
            </a:pPr>
            <a:endParaRPr lang="ru-RU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CCB6B4-29D8-3E25-662F-9329B10254B8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1F117-CBB1-5108-4346-8B953AFA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5"/>
            <a:ext cx="10823945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8. МЕТОДЫ И КРИТЕРИИ ОЦЕНКИ</a:t>
            </a:r>
          </a:p>
        </p:txBody>
      </p:sp>
    </p:spTree>
    <p:extLst>
      <p:ext uri="{BB962C8B-B14F-4D97-AF65-F5344CB8AC3E}">
        <p14:creationId xmlns:p14="http://schemas.microsoft.com/office/powerpoint/2010/main" val="2564233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9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563DA-0D3A-3DF5-5125-1698B555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FAD10-C70D-FE13-0A0F-AD568658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08" y="1113291"/>
            <a:ext cx="11104984" cy="4631418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9. РЕЗУЛЬТАТЫ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617539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E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5AD22-9A06-F70D-2A55-070CC0D2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54FB7C9-8037-B397-AE59-F065087BD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239"/>
            <a:ext cx="10515600" cy="502122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График зависимости времени обучения от числа потоков (на обучении частной модели).</a:t>
            </a:r>
          </a:p>
          <a:p>
            <a:r>
              <a:rPr lang="ru-RU" dirty="0"/>
              <a:t>Сравнение времени обучения универсальной модели (на 29 квартирах) и частной модели (на одной квартире).</a:t>
            </a:r>
          </a:p>
          <a:p>
            <a:r>
              <a:rPr lang="ru-RU" dirty="0"/>
              <a:t>График для сравнение времени дообучения в зависимости от объема выборки дообучения (в</a:t>
            </a:r>
            <a:r>
              <a:rPr lang="en-US" dirty="0"/>
              <a:t> </a:t>
            </a:r>
            <a:r>
              <a:rPr lang="ru-RU" dirty="0"/>
              <a:t>%).</a:t>
            </a:r>
          </a:p>
          <a:p>
            <a:r>
              <a:rPr lang="ru-RU" dirty="0"/>
              <a:t>Кривая дообучения: график зависимости точности универсальной модели от объема выборки дообучения (в</a:t>
            </a:r>
            <a:r>
              <a:rPr lang="en-US" dirty="0"/>
              <a:t> </a:t>
            </a:r>
            <a:r>
              <a:rPr lang="ru-RU" dirty="0"/>
              <a:t>%), с горизонтальной линией (точность частной модели).</a:t>
            </a:r>
          </a:p>
          <a:p>
            <a:r>
              <a:rPr lang="ru-RU" dirty="0"/>
              <a:t>Оценка важности признаков: для трёх ключевых моделей (универсальная, частная, дообученная) строится сравнительная диаграмма топ-10 признаков по важности.</a:t>
            </a:r>
          </a:p>
          <a:p>
            <a:r>
              <a:rPr lang="ru-RU" dirty="0"/>
              <a:t> При заметном росте точности</a:t>
            </a:r>
            <a:r>
              <a:rPr lang="en-US" dirty="0"/>
              <a:t>,</a:t>
            </a:r>
            <a:r>
              <a:rPr lang="ru-RU" dirty="0"/>
              <a:t> сравнение матриц ошибок.</a:t>
            </a:r>
          </a:p>
          <a:p>
            <a:pPr marL="0" indent="0">
              <a:buNone/>
            </a:pPr>
            <a:endParaRPr lang="ru-RU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7C2768C-1700-2736-A931-463C420D0EB6}"/>
              </a:ext>
            </a:extLst>
          </p:cNvPr>
          <p:cNvSpPr/>
          <p:nvPr/>
        </p:nvSpPr>
        <p:spPr>
          <a:xfrm>
            <a:off x="0" y="0"/>
            <a:ext cx="12192000" cy="1347874"/>
          </a:xfrm>
          <a:prstGeom prst="rect">
            <a:avLst/>
          </a:prstGeom>
          <a:solidFill>
            <a:srgbClr val="00799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23282-0CA4-C73F-5448-50FDB071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5"/>
            <a:ext cx="10823945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9. РЕЗУЛЬТАТЫ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469648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2085</TotalTime>
  <Words>1012</Words>
  <Application>Microsoft Macintosh PowerPoint</Application>
  <PresentationFormat>Широкоэкранный</PresentationFormat>
  <Paragraphs>101</Paragraphs>
  <Slides>22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Тема Office</vt:lpstr>
      <vt:lpstr>HUMAN ACTIVITY RECOGNITION FROM CONTINUOUS AMBIENT SENSOR DATA</vt:lpstr>
      <vt:lpstr>1. ОБЩАЯ ИНФОРМАЦИЯ ПО ДАННЫМ: ИСТОЧНИК, КЕМ ПРЕДООСТАВЛЕНЫ, КОГДА И ДЛЯ КАКИХ ЗАДАЧ МОГУТ ИСПОЛЬЗОВАТЬСЯ</vt:lpstr>
      <vt:lpstr>1.ОБЩАЯ ИНФОРМАЦИЯ ПО ДАННЫМ</vt:lpstr>
      <vt:lpstr>Презентация PowerPoint</vt:lpstr>
      <vt:lpstr>2. ОПИСАНИЕ ЦЕЛЕВОЙ ЗАДАЧИ АНАЛИЗА ДАННЫХ ИСХОДЯ ИЗ ДАННЫХ</vt:lpstr>
      <vt:lpstr>2. ОПИСАНИЕ ЦЕЛЕВОЙ ЗАДАЧИ</vt:lpstr>
      <vt:lpstr>3. МЕТАИНФОРМАЦИЯ: ФОРМАТ, КОЛИЧЕСТВО АТРИБУТОВ И ВЕКТОРОВ, ТИПЫ АТРИБУТОВ, КЛАССЫ И Т.П.</vt:lpstr>
      <vt:lpstr>3. МЕТАИНФОРМАЦИЯ</vt:lpstr>
      <vt:lpstr>3. МЕТАИНФОРМАЦИЯ</vt:lpstr>
      <vt:lpstr>4. ОГРАНИЧЕНИЯ ДАННЫХ: ПРОПУЩЕННЫЕ ЗНАЧЕНИЯ, АНОМАЛИИ И Т.П.</vt:lpstr>
      <vt:lpstr>4. ОГРАНИЧЕНИЯ ДАННЫХ</vt:lpstr>
      <vt:lpstr>5. ПРЕДЛАГАЕМЫЙ ML АЛГОРИТМ ДЛЯ РЕШЕНИЯ ЦЕЛЕВОЙ ЗАДАЧИ</vt:lpstr>
      <vt:lpstr>5. ML АЛГОРИТМ</vt:lpstr>
      <vt:lpstr>5. ML АЛГОРИТМ</vt:lpstr>
      <vt:lpstr>6. НЕОБХОДИМЫЕ НАСТРОЙКИ ДАННЫХ ДЛЯ КАЖДОГО АЛГОРИТМА</vt:lpstr>
      <vt:lpstr>6. НЕОБХОДИМЫЕ НАСТРОЙКИ ДАННЫХ</vt:lpstr>
      <vt:lpstr>7. ОЖИДАЕМЫЕ МОДЕЛИ ЗНАНИЙ, ПОСТРОЕННЫЕ АЛГОРИТМАМИ</vt:lpstr>
      <vt:lpstr>7. ОЖИДАЕМЫЕ МОДЕЛИ ЗНАНИЙ</vt:lpstr>
      <vt:lpstr>8. ПРЕДЛАГАЕМЫЕ МЕТОДЫ И КРИТЕРИИ ОЦЕНКИ ПОСТРОЕННЫХ МОДЕЛЕЙ</vt:lpstr>
      <vt:lpstr>8. МЕТОДЫ И КРИТЕРИИ ОЦЕНКИ</vt:lpstr>
      <vt:lpstr>9. РЕЗУЛЬТАТЫ ИССЛЕДОВАНИЯ</vt:lpstr>
      <vt:lpstr>9. РЕЗУЛЬТАТЫ ИССЛЕДОВАНИЯ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Вероника Чистякова</dc:creator>
  <cp:lastModifiedBy>Вероника Чистякова</cp:lastModifiedBy>
  <cp:revision>4</cp:revision>
  <dcterms:created xsi:type="dcterms:W3CDTF">2026-03-12T19:05:55Z</dcterms:created>
  <dcterms:modified xsi:type="dcterms:W3CDTF">2026-03-20T20:49:24Z</dcterms:modified>
</cp:coreProperties>
</file>